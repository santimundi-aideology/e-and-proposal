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17320" cy="219456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spc="120">
                <a:solidFill>
                  <a:srgbClr val="FFFFFF"/>
                </a:solidFill>
                <a:latin typeface="Arial"/>
              </a:rPr>
              <a:t>INTERNAL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60">
                <a:solidFill>
                  <a:srgbClr val="888888"/>
                </a:solidFill>
                <a:latin typeface="Arial"/>
              </a:rPr>
              <a:t>Prepared for Fikreab's GPUaaS commercial deck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111111"/>
                </a:solidFill>
                <a:latin typeface="Arial"/>
              </a:rPr>
              <a:t>Professional Services for GPUaaS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00800"/>
                </a:solidFill>
                <a:latin typeface="Arial"/>
              </a:rPr>
              <a:t>Scope, boundaries, and commercial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286000" cy="36576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44444"/>
                </a:solidFill>
                <a:latin typeface="Arial"/>
              </a:rPr>
              <a:t>One pack to unblock the commercial narrative for GPUaaS — what AIdeology, e&amp;, and Core42 each own across professional services, where the overlaps are, and how each party earns. Built to be decided, not debated.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3657599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64592" cy="137160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0749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140">
                <a:solidFill>
                  <a:srgbClr val="E00800"/>
                </a:solidFill>
                <a:latin typeface="Arial"/>
              </a:rPr>
              <a:t>AIDEOLOGY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035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AIdeology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71500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AI plane, agentic delivery, MLOps, HPC RA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4937760"/>
            <a:ext cx="3657599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4937760"/>
            <a:ext cx="164592" cy="13716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7" y="50749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140">
                <a:solidFill>
                  <a:srgbClr val="185FA5"/>
                </a:solidFill>
                <a:latin typeface="Arial"/>
              </a:rPr>
              <a:t>E&amp;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7" y="53035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e&amp;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7" y="571500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Commercial front, customer ownership, managed service wrap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0998" y="4937760"/>
            <a:ext cx="3657599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0998" y="4937760"/>
            <a:ext cx="164592" cy="1371600"/>
          </a:xfrm>
          <a:prstGeom prst="rect">
            <a:avLst/>
          </a:prstGeom>
          <a:solidFill>
            <a:srgbClr val="00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6" y="50749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140">
                <a:solidFill>
                  <a:srgbClr val="004B2E"/>
                </a:solidFill>
                <a:latin typeface="Arial"/>
              </a:rPr>
              <a:t>CORE42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6" y="53035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Core42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6" y="5715000"/>
            <a:ext cx="3291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Sovereign cloud / GPU infra hosting, capacity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02 ·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Why this pack exists — and the decisions it asks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Fikreab needs a clean GPUaaS commercial story. This pack provides the professional services scope, ownership boundaries, and commercial frame so the Core42 narrative can land without ambiguity.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394960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WHAT THIS PACK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Commercial-operating boundary deck for GPUaaS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Clear ownership map: AIdeology / e&amp; / Core42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Professional services catalogue with pricing posture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77640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Overlap zones with single-accountable-owner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Input deck for Fikreab's Core42 commercial narrative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377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77440"/>
            <a:ext cx="5394960" cy="54864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888888"/>
                </a:solidFill>
                <a:latin typeface="Arial"/>
              </a:rPr>
              <a:t>WHAT IT IS NOT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17520"/>
            <a:ext cx="54864" cy="54864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92608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Not a technical architecture deep-dive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337560"/>
            <a:ext cx="54864" cy="54864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24612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Not a final SoW or binding pricing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657600"/>
            <a:ext cx="54864" cy="54864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566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Not a Core42 product / capacity proposal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77640"/>
            <a:ext cx="54864" cy="54864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Not a customer-facing slide deck — internal alignment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97680"/>
            <a:ext cx="54864" cy="54864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20624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44444"/>
                </a:solidFill>
                <a:latin typeface="Arial"/>
              </a:rPr>
              <a:t>Not a substitute for a co-sell agreement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60">
                <a:solidFill>
                  <a:srgbClr val="E00800"/>
                </a:solidFill>
                <a:latin typeface="Arial"/>
              </a:rPr>
              <a:t>3 DECISIONS NEEDED TODAY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57800"/>
            <a:ext cx="3657600" cy="1188720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257800"/>
            <a:ext cx="457200" cy="1188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55040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5422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11111"/>
                </a:solidFill>
                <a:latin typeface="Arial"/>
              </a:rPr>
              <a:t>Ownership boundaries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69671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66"/>
                </a:solidFill>
                <a:latin typeface="Arial"/>
              </a:rPr>
              <a:t>Approve the AIdeology / e&amp; / Core42 RACI on professional services.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5257800"/>
            <a:ext cx="3657600" cy="1188720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5257800"/>
            <a:ext cx="457200" cy="1188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55040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5422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11111"/>
                </a:solidFill>
                <a:latin typeface="Arial"/>
              </a:rPr>
              <a:t>Commercial frame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8888" y="569671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66"/>
                </a:solidFill>
                <a:latin typeface="Arial"/>
              </a:rPr>
              <a:t>Lock the three commercial packages: fixed build, advisory retainer, managed.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5257800"/>
            <a:ext cx="3657600" cy="1188720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5257800"/>
            <a:ext cx="457200" cy="1188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555040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3648" y="5422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11111"/>
                </a:solidFill>
                <a:latin typeface="Arial"/>
              </a:rPr>
              <a:t>Overlap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569671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66"/>
                </a:solidFill>
                <a:latin typeface="Arial"/>
              </a:rPr>
              <a:t>Approve the single-owner rule for the 4 overlap zones.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03 · END-TO-END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From silicon to live agentic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Eight layers of professional services across four phases. AIdeology leads the AI / platform plane; Core42 provides sovereign GPU capacity; e&amp; fronts the customer.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180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spc="140">
                <a:solidFill>
                  <a:srgbClr val="FFFFFF"/>
                </a:solidFill>
                <a:latin typeface="Arial"/>
              </a:rPr>
              <a:t>Wks 0–8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2286000"/>
            <a:ext cx="2743200" cy="502920"/>
          </a:xfrm>
          <a:prstGeom prst="rect">
            <a:avLst/>
          </a:prstGeom>
          <a:solidFill>
            <a:srgbClr val="7A5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2286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18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542032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spc="140">
                <a:solidFill>
                  <a:srgbClr val="FFFFFF"/>
                </a:solidFill>
                <a:latin typeface="Arial"/>
              </a:rPr>
              <a:t>Wks 6–20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2286000"/>
            <a:ext cx="2743200" cy="5029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2286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180">
                <a:solidFill>
                  <a:srgbClr val="FFFFFF"/>
                </a:solidFill>
                <a:latin typeface="Arial"/>
              </a:rPr>
              <a:t>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542032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spc="140">
                <a:solidFill>
                  <a:srgbClr val="FFFFFF"/>
                </a:solidFill>
                <a:latin typeface="Arial"/>
              </a:rPr>
              <a:t>Wks 18–26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2286000"/>
            <a:ext cx="2743200" cy="502920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2286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180">
                <a:solidFill>
                  <a:srgbClr val="FFFFFF"/>
                </a:solidFill>
                <a:latin typeface="Arial"/>
              </a:rPr>
              <a:t>OPERATE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542032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spc="140">
                <a:solidFill>
                  <a:srgbClr val="FFFFFF"/>
                </a:solidFill>
                <a:latin typeface="Arial"/>
              </a:rPr>
              <a:t>Wk 24+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017520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063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Customer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06324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Live agentic solution on the customer's workflow · billed on e&amp;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017520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30632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16382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 · 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1568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01568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401568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44728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Agentic 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44728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Multi-agent solutions · contact centre · doc intelligence · approvals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3401568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4472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5478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85616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8561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3785616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83133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Forge AI Control Plane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83133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Orchestration · LLM gateway · multi-tenancy · governance · billing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3785616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383133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69664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169664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" y="4169664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21538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MLOps &amp; Model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4215384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NVIDIA AI Enterprise · Fleet Command · serving · fine-tuning · drift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4169664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421538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3159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553712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55371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" y="4553712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45994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Data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599432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Lustre · GPFS · GPUDirect · RAPIDS · governance · lineage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4553712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45994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470001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937760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937760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" y="4937760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7280" y="49834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Compute Orchestration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498348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Kubernetes · Slurm · MIG · multi-tenant isolation · usage meters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2640" y="4937760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49834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0840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 · 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321808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321808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0120" y="5321808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7280" y="53675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GPU Hardware &amp; Fabric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0" y="536752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NVIDIA DGX · HGX · NVL72 · RA design · BoM · procurement advisory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92640" y="5321808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4080" y="536752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546811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A · 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705856"/>
            <a:ext cx="50292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70585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0120" y="5705856"/>
            <a:ext cx="8732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7280" y="57515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11111"/>
                </a:solidFill>
                <a:latin typeface="Arial"/>
              </a:rPr>
              <a:t>Site &amp; Facility Foundation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0" y="575157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Power · cooling · fabric · physical security · sovereign DC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2640" y="5705856"/>
            <a:ext cx="2039112" cy="384048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4080" y="57515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spc="140">
                <a:solidFill>
                  <a:srgbClr val="888888"/>
                </a:solidFill>
                <a:latin typeface="Arial"/>
              </a:rPr>
              <a:t>OWNER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84080" y="58521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00800"/>
                </a:solidFill>
                <a:latin typeface="Arial"/>
              </a:rPr>
              <a:t>E · 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2636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160">
                <a:solidFill>
                  <a:srgbClr val="888888"/>
                </a:solidFill>
                <a:latin typeface="Arial"/>
              </a:rPr>
              <a:t>LEGEND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0" y="6227064"/>
            <a:ext cx="274320" cy="2743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0160" y="62270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5920" y="62819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444444"/>
                </a:solidFill>
                <a:latin typeface="Arial"/>
              </a:rPr>
              <a:t>AIdeology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08960" y="6227064"/>
            <a:ext cx="274320" cy="2743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108960" y="62270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74720" y="62819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444444"/>
                </a:solidFill>
                <a:latin typeface="Arial"/>
              </a:rPr>
              <a:t>e&amp;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0" y="6227064"/>
            <a:ext cx="274320" cy="274320"/>
          </a:xfrm>
          <a:prstGeom prst="rect">
            <a:avLst/>
          </a:prstGeom>
          <a:solidFill>
            <a:srgbClr val="00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37760" y="62270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0" y="62819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444444"/>
                </a:solidFill>
                <a:latin typeface="Arial"/>
              </a:rPr>
              <a:t>Core42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04 · BOUNDARY MAP (RACI)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Who does what — AIdeology · e&amp; · Core42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Workstream-level ownership. R = Responsible (does the work). A = Accountable. S = Supports. — = Not involved.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0927080" cy="3840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888888"/>
                </a:solidFill>
                <a:latin typeface="Arial"/>
              </a:rPr>
              <a:t>WORKSTREAM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spc="140">
                <a:solidFill>
                  <a:srgbClr val="888888"/>
                </a:solidFill>
                <a:latin typeface="Arial"/>
              </a:rPr>
              <a:t>AIDEOLOGY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spc="140">
                <a:solidFill>
                  <a:srgbClr val="888888"/>
                </a:solidFill>
                <a:latin typeface="Arial"/>
              </a:rPr>
              <a:t>E&amp;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spc="140">
                <a:solidFill>
                  <a:srgbClr val="888888"/>
                </a:solidFill>
                <a:latin typeface="Arial"/>
              </a:rPr>
              <a:t>CORE42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109270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Strategy &amp; architecture (AI plane)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638044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63804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79" y="2638044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79" y="263804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2638044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63804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35224"/>
            <a:ext cx="10927080" cy="356616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0837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Reference architecture (HPC / GPU)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994660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99466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79" y="2994660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79" y="299466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2994660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299466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109270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GPU infra hosting &amp;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351276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35127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79" y="3351276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79" y="335127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3351276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335127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48456"/>
            <a:ext cx="10927080" cy="356616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2160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Network, security &amp; sovereignty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3707892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70789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79" y="3707892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79" y="370789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3707892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370789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005072"/>
            <a:ext cx="109270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07822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Platform build (Forge, MLOps, data)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4064508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06450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41079" y="4064508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79" y="406450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24160" y="4064508"/>
            <a:ext cx="777240" cy="23774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60" y="406450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AAAAA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61688"/>
            <a:ext cx="10927080" cy="356616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348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Agentic solution build (SDD)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421124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442112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41079" y="4421124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1079" y="442112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24160" y="4421124"/>
            <a:ext cx="777240" cy="23774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24160" y="442112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AAAAA"/>
                </a:solidFill>
                <a:latin typeface="Arial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718304"/>
            <a:ext cx="109270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7914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Customer-facing managed service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4777740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477774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41079" y="4777740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79" y="477774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24160" y="4777740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24160" y="477774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074920"/>
            <a:ext cx="10927080" cy="356616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1480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L3/L4 AI platform support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5134356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0" y="513435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41079" y="5134356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41079" y="513435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24160" y="5134356"/>
            <a:ext cx="777240" cy="23774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24160" y="513435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AAAAA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431536"/>
            <a:ext cx="1092708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50468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Commercial / GTM ownership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58000" y="5490972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0" y="549097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41079" y="5490972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41079" y="549097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R/A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424160" y="5490972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24160" y="549097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788152"/>
            <a:ext cx="10927080" cy="356616"/>
          </a:xfrm>
          <a:prstGeom prst="rect">
            <a:avLst/>
          </a:prstGeom>
          <a:solidFill>
            <a:srgbClr val="F7F7F7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586130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11111"/>
                </a:solidFill>
                <a:latin typeface="Arial"/>
              </a:rPr>
              <a:t>Compliance, audit &amp; evidence packs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5847588"/>
            <a:ext cx="777240" cy="237744"/>
          </a:xfrm>
          <a:prstGeom prst="rect">
            <a:avLst/>
          </a:prstGeom>
          <a:solidFill>
            <a:srgbClr val="E00800"/>
          </a:solidFill>
          <a:ln>
            <a:solidFill>
              <a:srgbClr val="E00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0" y="584758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79" y="5847588"/>
            <a:ext cx="777240" cy="237744"/>
          </a:xfrm>
          <a:prstGeom prst="rect">
            <a:avLst/>
          </a:prstGeom>
          <a:solidFill>
            <a:srgbClr val="185FA5"/>
          </a:solidFill>
          <a:ln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79" y="584758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24160" y="5847588"/>
            <a:ext cx="777240" cy="237744"/>
          </a:xfrm>
          <a:prstGeom prst="rect">
            <a:avLst/>
          </a:prstGeom>
          <a:solidFill>
            <a:srgbClr val="004B2E"/>
          </a:solidFill>
          <a:ln>
            <a:solidFill>
              <a:srgbClr val="004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24160" y="584758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6172200"/>
            <a:ext cx="11274552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57200" y="6172200"/>
            <a:ext cx="73152" cy="38404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6217920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GOLDEN RULE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" y="63550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Every overlap resolves to a single Accountable owner. No shared accountability.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05 · OVERLAP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Where roles touch — and how we resolve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Four overlap zones surface in every GPUaaS deal. Each has a single-accountable-owner rule so the customer never sees a finger-point.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632704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63270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0080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4535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Infra architecture vs infra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175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AIdeology designs the GPU / fabric / storage RA. Core42 operates the hosted infra.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5175504" cy="594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111111"/>
                </a:solidFill>
                <a:latin typeface="Arial"/>
              </a:rPr>
              <a:t>AIdeology = Accountable for architecture decisions and BoM. Core42 = Accountable for hosting performance &amp; uptime.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2286000"/>
            <a:ext cx="5632704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2286000"/>
            <a:ext cx="563270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48716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0080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560320"/>
            <a:ext cx="4535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Platform ops vs cloud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063240"/>
            <a:ext cx="5175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Forge / MLOps / data plane vs cloud-resource ops.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1384" y="3566160"/>
            <a:ext cx="5175504" cy="594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6118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3794760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111111"/>
                </a:solidFill>
                <a:latin typeface="Arial"/>
              </a:rPr>
              <a:t>AIdeology = Accountable for platform ops (L3/L4 AI). Core42 = Accountable for cloud-side resource health.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5632704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63270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9028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00800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4535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Security controls vs security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5175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Policy, RBAC, governance, audit fabric vs SOC and run-time security.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5175504" cy="594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15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RESOLUTION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97880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111111"/>
                </a:solidFill>
                <a:latin typeface="Arial"/>
              </a:rPr>
              <a:t>AIdeology = Accountable for AI / data controls. e&amp; (via Help AG) = Accountable for security operations.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7064" y="4389120"/>
            <a:ext cx="5632704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7064" y="4389120"/>
            <a:ext cx="563270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459028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00800"/>
                </a:solidFill>
                <a:latin typeface="Arial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4" y="4663440"/>
            <a:ext cx="45354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Customer-facing managed service vs back-end managed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5166360"/>
            <a:ext cx="51755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66666"/>
                </a:solidFill>
                <a:latin typeface="Arial"/>
              </a:rPr>
              <a:t>Customer-visible SLA vs supplier-side platform SLA.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01384" y="5669280"/>
            <a:ext cx="5175504" cy="594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8544" y="5715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RESOLUTION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5897880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111111"/>
                </a:solidFill>
                <a:latin typeface="Arial"/>
              </a:rPr>
              <a:t>e&amp; = Accountable for customer SLA. AIdeology = Accountable for platform SLA underneath.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06 · SERVICES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What AIdeology brings into the partnership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Four service families. Each is a fixed-fee or retainer engagement and can be invoked independently or as part of a programme.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7889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788920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865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HPC &amp;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01168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GPU Infrastructure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201168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Reference Architecture Design (RTX PRO · HGX · NVL72)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201168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BoM Optimisation &amp; Procurement Advisory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17720"/>
            <a:ext cx="201168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Networking &amp; Fabric Advisory (InfiniBand / Spectrum-X)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66360"/>
            <a:ext cx="201168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663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100 MW DC Fulfilment Programme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715000"/>
            <a:ext cx="201168" cy="201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Performance Benchmarking (MLPerf-aligned)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0984" y="2240280"/>
            <a:ext cx="27889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00984" y="2240280"/>
            <a:ext cx="2788920" cy="5029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4" y="23865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Platform &amp; MLOps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83864" y="2971800"/>
            <a:ext cx="201168" cy="20116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29718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8184" y="2926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Forge Control Plane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3864" y="3520440"/>
            <a:ext cx="201168" cy="20116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83864" y="35204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8184" y="347472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LLM Gateway &amp; Model Router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83864" y="4069080"/>
            <a:ext cx="201168" cy="20116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83864" y="40690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58184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MLOps Infrastructure (NVIDIA AI Enterprise · Fleet Command)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83864" y="4617720"/>
            <a:ext cx="201168" cy="20116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3864" y="4617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58184" y="45720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Model Serving (vLLM · TGI · Triton)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83864" y="5166360"/>
            <a:ext cx="201168" cy="20116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83864" y="51663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4" y="51206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Fine-Tuning Pipelines (DeepSpeed · LoRA · QLoRA)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3864" y="5715000"/>
            <a:ext cx="201168" cy="20116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83864" y="57150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8184" y="56692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AI Data Platform (Lustre / GPFS · GPUDirect · RAPIDS)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2240280"/>
            <a:ext cx="27889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2240280"/>
            <a:ext cx="2788920" cy="5029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23865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Agentic AI Delivery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27648" y="2971800"/>
            <a:ext cx="201168" cy="20116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9718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926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AI Strategy &amp; AIdeation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3520440"/>
            <a:ext cx="201168" cy="20116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35204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347472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Spec-Driven Design (SDD) methodology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7648" y="4069080"/>
            <a:ext cx="201168" cy="20116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0690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Custom Agent Development (multi-agent solutions)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27648" y="4617720"/>
            <a:ext cx="201168" cy="20116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4617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45720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Adapted Agent Uplift (vertical hardening)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27648" y="5166360"/>
            <a:ext cx="201168" cy="20116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7648" y="51663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8" y="51206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Voice &amp; Arabic Multilingual NLP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27648" y="5715000"/>
            <a:ext cx="201168" cy="20116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7648" y="57150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1968" y="56692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Robotics, Simulation &amp; 3D AI (Omniverse · Isaac Sim)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2240280"/>
            <a:ext cx="27889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88552" y="2240280"/>
            <a:ext cx="2788920" cy="502920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71432" y="23865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Operate &amp; Evolve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71432" y="2971800"/>
            <a:ext cx="201168" cy="20116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71432" y="29718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45752" y="2926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Managed AI Operations (24/7 L3/L4)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71432" y="3520440"/>
            <a:ext cx="201168" cy="20116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352044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45752" y="347472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Sovereign Managed Service (customer-site)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71432" y="4069080"/>
            <a:ext cx="201168" cy="20116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71432" y="40690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45752" y="40233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Model Monitoring &amp; Drift Detection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71432" y="4617720"/>
            <a:ext cx="201168" cy="20116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71432" y="46177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45752" y="45720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GPU Fleet Management &amp; Capacity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71432" y="5166360"/>
            <a:ext cx="201168" cy="20116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71432" y="51663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45752" y="51206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Centre of Excellence build &amp; Knowledge Transfer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71432" y="5715000"/>
            <a:ext cx="201168" cy="20116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1432" y="571500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45752" y="56692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11111"/>
                </a:solidFill>
                <a:latin typeface="Arial"/>
              </a:rPr>
              <a:t>Continuous Agent Evolution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07 · COMMERCIAL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Three packaging blocks · how each party earns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Modular commercial structure. Customers can engage any block independently. Pricing is indicative — final terms per SoW.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803904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803904" cy="68580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3346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spc="120">
                <a:solidFill>
                  <a:srgbClr val="FFFFFF"/>
                </a:solidFill>
                <a:latin typeface="Arial"/>
              </a:rPr>
              <a:t>DESIGN &amp;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80">
                <a:solidFill>
                  <a:srgbClr val="FFFFFF"/>
                </a:solidFill>
                <a:latin typeface="Arial"/>
              </a:rPr>
              <a:t>Fixed-fee · milestone-based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3346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00800"/>
                </a:solidFill>
                <a:latin typeface="Arial"/>
              </a:rPr>
              <a:t>$300K – $1M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3346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140">
                <a:solidFill>
                  <a:srgbClr val="888888"/>
                </a:solidFill>
                <a:latin typeface="Arial"/>
              </a:rPr>
              <a:t>PER PROGRAMME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3346704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346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888888"/>
                </a:solidFill>
                <a:latin typeface="Arial"/>
              </a:rPr>
              <a:t>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6239"/>
            <a:ext cx="64008" cy="6400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11479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RA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80559"/>
            <a:ext cx="64008" cy="6400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38911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Platform build (Forge / MLOps / data)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54879"/>
            <a:ext cx="64008" cy="6400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66343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Agent build (SDD)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029199"/>
            <a:ext cx="64008" cy="64008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93775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Site deployment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349240"/>
            <a:ext cx="3529584" cy="8686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3255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WHO EARNS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4184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44444"/>
                </a:solidFill>
                <a:latin typeface="Arial"/>
              </a:rPr>
              <a:t>AIdeology invoices fixed milestones. e&amp; adds wrap fee. Core42 invoices its own cloud / hosting set-up.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2240280"/>
            <a:ext cx="3803904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2240280"/>
            <a:ext cx="3803904" cy="6858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2359152"/>
            <a:ext cx="3346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spc="120">
                <a:solidFill>
                  <a:srgbClr val="FFFFFF"/>
                </a:solidFill>
                <a:latin typeface="Arial"/>
              </a:rPr>
              <a:t>ADVISORY RETAINER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2651760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80">
                <a:solidFill>
                  <a:srgbClr val="FFFFFF"/>
                </a:solidFill>
                <a:latin typeface="Arial"/>
              </a:rPr>
              <a:t>Monthly retainer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3017520"/>
            <a:ext cx="3346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85FA5"/>
                </a:solidFill>
                <a:latin typeface="Arial"/>
              </a:rPr>
              <a:t>$40K – $60K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474720"/>
            <a:ext cx="3346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140">
                <a:solidFill>
                  <a:srgbClr val="888888"/>
                </a:solidFill>
                <a:latin typeface="Arial"/>
              </a:rPr>
              <a:t>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44568" y="3794760"/>
            <a:ext cx="3346704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3886200"/>
            <a:ext cx="3346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888888"/>
                </a:solidFill>
                <a:latin typeface="Arial"/>
              </a:rPr>
              <a:t>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44568" y="4206239"/>
            <a:ext cx="64008" cy="6400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6" y="411479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2–3 senior architects on-account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44568" y="4480559"/>
            <a:ext cx="64008" cy="6400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0016" y="438911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Capacity &amp; roadmap reviews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44568" y="4754879"/>
            <a:ext cx="64008" cy="6400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466343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Vendor coordination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4568" y="5029199"/>
            <a:ext cx="64008" cy="6400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0016" y="493775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Procurement advisory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3128" y="5349240"/>
            <a:ext cx="3529584" cy="8686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0288" y="5440680"/>
            <a:ext cx="3255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WHO EARNS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0288" y="564184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44444"/>
                </a:solidFill>
                <a:latin typeface="Arial"/>
              </a:rPr>
              <a:t>AIdeology bills monthly. e&amp; adds margin into customer wrap. Core42 not directly involved unless infra advice.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74736" y="2240280"/>
            <a:ext cx="3803904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74736" y="2240280"/>
            <a:ext cx="3803904" cy="685800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3336" y="2359152"/>
            <a:ext cx="3346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spc="120">
                <a:solidFill>
                  <a:srgbClr val="FFFFFF"/>
                </a:solidFill>
                <a:latin typeface="Arial"/>
              </a:rPr>
              <a:t>MANAGED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2651760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80">
                <a:solidFill>
                  <a:srgbClr val="FFFFFF"/>
                </a:solidFill>
                <a:latin typeface="Arial"/>
              </a:rPr>
              <a:t>Retainer + SLA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3017520"/>
            <a:ext cx="3346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6B49"/>
                </a:solidFill>
                <a:latin typeface="Arial"/>
              </a:rPr>
              <a:t>$25K – $60K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3474720"/>
            <a:ext cx="3346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spc="140">
                <a:solidFill>
                  <a:srgbClr val="888888"/>
                </a:solidFill>
                <a:latin typeface="Arial"/>
              </a:rPr>
              <a:t>PER MONTH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3336" y="3794760"/>
            <a:ext cx="3346704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3336" y="3886200"/>
            <a:ext cx="3346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888888"/>
                </a:solidFill>
                <a:latin typeface="Arial"/>
              </a:rPr>
              <a:t>SCOPE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03336" y="4206239"/>
            <a:ext cx="64008" cy="6400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411479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24/7 L3/L4 platform support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3336" y="4480559"/>
            <a:ext cx="64008" cy="6400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438911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Model monitoring &amp; drift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03336" y="4754879"/>
            <a:ext cx="64008" cy="6400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58784" y="466343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Continuous tuning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03336" y="5029199"/>
            <a:ext cx="64008" cy="64008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58784" y="4937759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Sovereign managed option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11896" y="5349240"/>
            <a:ext cx="3529584" cy="8686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49056" y="5440680"/>
            <a:ext cx="32552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60">
                <a:solidFill>
                  <a:srgbClr val="E00800"/>
                </a:solidFill>
                <a:latin typeface="Arial"/>
              </a:rPr>
              <a:t>WHO EARNS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49056" y="564184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44444"/>
                </a:solidFill>
                <a:latin typeface="Arial"/>
              </a:rPr>
              <a:t>e&amp; fronts customer SLA. AIdeology underwrites platform SLA. Core42 contributes infra SLA where it hosts.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88888"/>
                </a:solidFill>
                <a:latin typeface="Arial"/>
              </a:rPr>
              <a:t>All blocks structured around milestone acceptance · 15% mobilisation advance · net 30 days from certification.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08 ·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30 · 60 · 90 day view, with 6-month landing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Stage-gated delivery. Each gate has a named go/no-go criterion. Parallel-loaded where dependencies allow.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862072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862072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32304"/>
            <a:ext cx="2862072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0">
                <a:solidFill>
                  <a:srgbClr val="FFFFFF"/>
                </a:solidFill>
                <a:latin typeface="Arial"/>
              </a:rPr>
              <a:t>DAY 0–30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80">
                <a:solidFill>
                  <a:srgbClr val="E00800"/>
                </a:solidFill>
                <a:latin typeface="Arial"/>
              </a:rPr>
              <a:t>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DESIGN 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76472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AIdeation &amp; use-case backlog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87952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Reference Architecture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99432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Commercial frame agreed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10912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Core42 cloud capacity confirmed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2377440"/>
            <a:ext cx="2862072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4992" y="2377440"/>
            <a:ext cx="2862072" cy="54864"/>
          </a:xfrm>
          <a:prstGeom prst="rect">
            <a:avLst/>
          </a:prstGeom>
          <a:solidFill>
            <a:srgbClr val="7A5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4992" y="2432304"/>
            <a:ext cx="2862072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496312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0">
                <a:solidFill>
                  <a:srgbClr val="FFFFFF"/>
                </a:solidFill>
                <a:latin typeface="Arial"/>
              </a:rPr>
              <a:t>DAY 31–60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29260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80">
                <a:solidFill>
                  <a:srgbClr val="7A52F4"/>
                </a:solidFill>
                <a:latin typeface="Arial"/>
              </a:rP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3127248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BUILD KICK-OFF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47872" y="3776472"/>
            <a:ext cx="54864" cy="54864"/>
          </a:xfrm>
          <a:prstGeom prst="rect">
            <a:avLst/>
          </a:prstGeom>
          <a:solidFill>
            <a:srgbClr val="7A5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370332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Hardware procurement underway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872" y="4187952"/>
            <a:ext cx="54864" cy="54864"/>
          </a:xfrm>
          <a:prstGeom prst="rect">
            <a:avLst/>
          </a:prstGeom>
          <a:solidFill>
            <a:srgbClr val="7A5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5032" y="411480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Platform build sprint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47872" y="4599432"/>
            <a:ext cx="54864" cy="54864"/>
          </a:xfrm>
          <a:prstGeom prst="rect">
            <a:avLst/>
          </a:prstGeom>
          <a:solidFill>
            <a:srgbClr val="7A5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452628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Agent SDD specs signed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7872" y="5010912"/>
            <a:ext cx="54864" cy="54864"/>
          </a:xfrm>
          <a:prstGeom prst="rect">
            <a:avLst/>
          </a:prstGeom>
          <a:solidFill>
            <a:srgbClr val="7A5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85032" y="493776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Site readiness validated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2377440"/>
            <a:ext cx="2862072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4" y="2377440"/>
            <a:ext cx="2862072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72784" y="2432304"/>
            <a:ext cx="2862072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2496312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0">
                <a:solidFill>
                  <a:srgbClr val="FFFFFF"/>
                </a:solidFill>
                <a:latin typeface="Arial"/>
              </a:rPr>
              <a:t>DAY 61–90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9260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80">
                <a:solidFill>
                  <a:srgbClr val="185FA5"/>
                </a:solidFill>
                <a:latin typeface="Arial"/>
              </a:rPr>
              <a:t>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3127248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BETA 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55664" y="3776472"/>
            <a:ext cx="54864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70332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First agent in closed beta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55664" y="4187952"/>
            <a:ext cx="54864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411480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Platform deployed in dev/staging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599432"/>
            <a:ext cx="54864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452628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GPU pod commissioning started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5664" y="5010912"/>
            <a:ext cx="54864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2824" y="493776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Security &amp; compliance review passed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0576" y="2377440"/>
            <a:ext cx="2862072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0576" y="2377440"/>
            <a:ext cx="2862072" cy="54864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80576" y="2432304"/>
            <a:ext cx="2862072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63456" y="2496312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spc="160">
                <a:solidFill>
                  <a:srgbClr val="FFFFFF"/>
                </a:solidFill>
                <a:latin typeface="Arial"/>
              </a:rPr>
              <a:t>MONTH 4–6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29260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80">
                <a:solidFill>
                  <a:srgbClr val="0F6B49"/>
                </a:solidFill>
                <a:latin typeface="Arial"/>
              </a:rPr>
              <a:t>GATE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3456" y="3127248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GA &amp; OPERATE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3456" y="3776472"/>
            <a:ext cx="54864" cy="54864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0616" y="370332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Production launch on sovereign infra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63456" y="4187952"/>
            <a:ext cx="54864" cy="54864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0616" y="411480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Managed service contract active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63456" y="4599432"/>
            <a:ext cx="54864" cy="54864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0616" y="452628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Customer SLA dashboards live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3456" y="5010912"/>
            <a:ext cx="54864" cy="54864"/>
          </a:xfrm>
          <a:prstGeom prst="rect">
            <a:avLst/>
          </a:prstGeom>
          <a:solidFill>
            <a:srgbClr val="0F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0616" y="4937760"/>
            <a:ext cx="2404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Continuous evolution backlog opened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897880"/>
            <a:ext cx="11274552" cy="6400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5897880"/>
            <a:ext cx="91440" cy="64008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00760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160">
                <a:solidFill>
                  <a:srgbClr val="E00800"/>
                </a:solidFill>
                <a:latin typeface="Arial"/>
              </a:rPr>
              <a:t>CRITICAL HANDOFFS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2087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44444"/>
                </a:solidFill>
                <a:latin typeface="Arial"/>
              </a:rPr>
              <a:t>RA → procurement (Day 30) · Site ready → racking (Day 60) · Beta accepted → GA cut-over (Day 90) · GA → managed service (Month 4)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760" y="457200"/>
            <a:ext cx="670560" cy="4572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98320" y="457200"/>
            <a:ext cx="670560" cy="45720"/>
          </a:xfrm>
          <a:prstGeom prst="rect">
            <a:avLst/>
          </a:prstGeom>
          <a:solidFill>
            <a:srgbClr val="A8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SLIDE 09 · RISKS, ASSUMPTIONS,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What we need from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66"/>
                </a:solidFill>
                <a:latin typeface="Arial"/>
              </a:rPr>
              <a:t>Five risks tracked, four assumptions to validate, three decisions to approve so Fikreab can finalise the commercial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TOP RISKS &amp; MITIGATIONS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73152" cy="64008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Boundary drift between AIdeology platform ops &amp; Core42 cloud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449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66666"/>
                </a:solidFill>
                <a:latin typeface="Arial"/>
              </a:rPr>
              <a:t>→ Single-owner rule per overlap zone + named escalation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10712"/>
            <a:ext cx="73152" cy="64008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8386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Customer SLA gaps between platform and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5818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66666"/>
                </a:solidFill>
                <a:latin typeface="Arial"/>
              </a:rPr>
              <a:t>→ e&amp; fronts the customer SLA; back-to-back SLAs to AIdeology &amp; Core42.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23944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23944"/>
            <a:ext cx="73152" cy="64008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Hardware lead times slip GA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7141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66666"/>
                </a:solidFill>
                <a:latin typeface="Arial"/>
              </a:rPr>
              <a:t>→ Pre-vetted NVIDIA-Certified BoMs + phased pod delivery (Q1 → Q3).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37176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37176"/>
            <a:ext cx="73152" cy="64008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1032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Pricing overlap on managed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846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66666"/>
                </a:solidFill>
                <a:latin typeface="Arial"/>
              </a:rPr>
              <a:t>→ Three distinct SKUs (platform / infra / customer-facing) with no overlap.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0408"/>
            <a:ext cx="56692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50408"/>
            <a:ext cx="73152" cy="64008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Security / sovereignty audit blockers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66666"/>
                </a:solidFill>
                <a:latin typeface="Arial"/>
              </a:rPr>
              <a:t>→ Help AG wrap, NESA evidence packs, T3/T4 trust tiers pre-built.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33172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KEY ASSUMPTIONS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788920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679192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44444"/>
                </a:solidFill>
                <a:latin typeface="Arial"/>
              </a:rPr>
              <a:t>e&amp; is the contracting customer &amp; commercial front.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099816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2990088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44444"/>
                </a:solidFill>
                <a:latin typeface="Arial"/>
              </a:rPr>
              <a:t>Core42 provides sovereign GPU capacity where required.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410712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300984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44444"/>
                </a:solidFill>
                <a:latin typeface="Arial"/>
              </a:rPr>
              <a:t>AIdeology delivers the AI / platform plane end-to-end.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721608"/>
            <a:ext cx="54864" cy="54864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611880"/>
            <a:ext cx="5193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44444"/>
                </a:solidFill>
                <a:latin typeface="Arial"/>
              </a:rPr>
              <a:t>Pricing ranges firm in 21 days post-sign-off.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16052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140">
                <a:solidFill>
                  <a:srgbClr val="E00800"/>
                </a:solidFill>
                <a:latin typeface="Arial"/>
              </a:rPr>
              <a:t>DECISIONS NEEDED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526280"/>
            <a:ext cx="5376672" cy="54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526280"/>
            <a:ext cx="457200" cy="54864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5262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572000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Approve RACI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5166360"/>
            <a:ext cx="5376672" cy="54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166360"/>
            <a:ext cx="457200" cy="54864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16636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212080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Approve commercial frame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806440"/>
            <a:ext cx="5376672" cy="54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5806440"/>
            <a:ext cx="457200" cy="548640"/>
          </a:xfrm>
          <a:prstGeom prst="rect">
            <a:avLst/>
          </a:prstGeom>
          <a:solidFill>
            <a:srgbClr val="E00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8064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852160"/>
            <a:ext cx="4645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Approve overlap rules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80">
                <a:solidFill>
                  <a:srgbClr val="888888"/>
                </a:solidFill>
                <a:latin typeface="Arial"/>
              </a:rPr>
              <a:t>AIdeology × e&amp; × Core42  ·  Professional Services for GPUaaS  ·  Boundary &amp; commercial pack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4415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1" spc="80">
                <a:solidFill>
                  <a:srgbClr val="444444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